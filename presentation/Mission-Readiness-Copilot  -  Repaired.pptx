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53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16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69FF-2577-18B7-3BB5-6FD3DCF4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F55F6-0996-BB6E-86ED-02B359DEC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17E51-8505-BA1D-2690-2D0B07472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4981-B460-7C6B-BC27-758D43FBC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07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ln w="12700">
            <a:solidFill>
              <a:srgbClr val="1C3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-640080"/>
            <a:ext cx="3383280" cy="3383280"/>
          </a:xfrm>
          <a:prstGeom prst="ellipse">
            <a:avLst/>
          </a:prstGeom>
          <a:ln w="12700">
            <a:solidFill>
              <a:srgbClr val="2446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AND BEYOND  ·  AI TRACK  ·  IBM BOB HACKATHON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6888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Readiness Copilot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3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predictive maintenance and mission-readiness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3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 aircraft engines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005840" cy="0"/>
          </a:xfrm>
          <a:prstGeom prst="line">
            <a:avLst/>
          </a:prstGeom>
          <a:noFill/>
          <a:ln w="38100">
            <a:solidFill>
              <a:srgbClr val="3FA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9436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sensor data → prediction → readiness → maintenance action — with IBM Bob as the Copilot.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Engines are grounded on the calendar, not on their actual condition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organisations cannot reliably determine whether aircraft engines are truly </a:t>
            </a:r>
            <a:r>
              <a:rPr lang="en-US" sz="1450" b="1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mission-ready</a:t>
            </a:r>
            <a:r>
              <a:rPr lang="en-US" sz="14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Maintenance is typically scheduled on fixed calendar intervals rather than actual component condition — while sensor data capable of predicting failures weeks in advance goes largely underused.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4297680"/>
            <a:ext cx="502920" cy="502920"/>
          </a:xfrm>
          <a:prstGeom prst="ellipse">
            <a:avLst/>
          </a:prstGeom>
          <a:solidFill>
            <a:srgbClr val="D65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270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Unnecessary cost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920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engines are pulled in and serviced on schedule, burning maintenance hours and budget on components that didn't need attention.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397764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4297680"/>
            <a:ext cx="502920" cy="502920"/>
          </a:xfrm>
          <a:prstGeom prst="ellipse">
            <a:avLst/>
          </a:prstGeom>
          <a:solidFill>
            <a:srgbClr val="D99B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4270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risk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8920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that are quietly degrading can fail unexpectedly — threatening mission readiness right when the fleet is needed most.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1783080"/>
            <a:ext cx="3566160" cy="2011680"/>
          </a:xfrm>
          <a:prstGeom prst="rect">
            <a:avLst/>
          </a:prstGeom>
          <a:solidFill>
            <a:srgbClr val="E8F2FA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transform raw aircraft sensor data into actionable mission-readiness intelligence.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Readiness Copilot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predictive maintenance platform that analyses aircraft engine sensor data and determines whether each engine is ready for an upcoming mission.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32888"/>
            <a:ext cx="384048" cy="384048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449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sensor 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4728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engine sensor readings from the NASA C-MAPSS 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23317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532888"/>
            <a:ext cx="384048" cy="384048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0449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RUL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44728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six-model ensemble estimates Remaining Useful Life per engine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98464" y="23317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532888"/>
            <a:ext cx="384048" cy="384048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99632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81344" y="30449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 &amp; bound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81344" y="344728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plus confidence intervals around each prediction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77656" y="23317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78824" y="2532888"/>
            <a:ext cx="384048" cy="384048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78824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60536" y="30449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readiness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860536" y="344728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are labelled READY / AT_RISK / NOT_READY for the mission window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681728"/>
            <a:ext cx="384048" cy="384048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193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mission risk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5961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engines likely to fail before the configured mission window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9272" y="448056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4681728"/>
            <a:ext cx="384048" cy="384048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2044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02152" y="5193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maintenance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502152" y="55961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 ranked, prioritised maintenance plan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98464" y="448056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4681728"/>
            <a:ext cx="384048" cy="384048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99632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181344" y="5193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call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181344" y="55961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explainability for every individual prediction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RUL Prediction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six-model ensemble predicts each engine's Remaining Useful Life (RUL), refined with test-time augmentation and wrapped in a confidence interval that captures prediction uncertainty.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90672"/>
            <a:ext cx="82296" cy="82296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9626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Six-model ensemble votes on Remaining Useful Life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47872"/>
            <a:ext cx="82296" cy="82296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419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improves prediction robustness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05072"/>
            <a:ext cx="82296" cy="82296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8770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quantify prediction uncertainty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737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32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0" y="18470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891272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91272" y="27980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 across all test engines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5240" y="34747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32A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3584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891272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4535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RUL variance explained by the model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Mission-Readiness Classification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predictions are translated into an operational readiness status against a configurable mission window — with fails-before-mission detection to flag critical engines before deployment.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3429000" cy="109728"/>
          </a:xfrm>
          <a:prstGeom prst="roundRect">
            <a:avLst/>
          </a:prstGeom>
          <a:solidFill>
            <a:srgbClr val="2E9E5B"/>
          </a:solidFill>
          <a:ln/>
        </p:spPr>
      </p:sp>
      <p:sp>
        <p:nvSpPr>
          <p:cNvPr id="7" name="Shape 5"/>
          <p:cNvSpPr/>
          <p:nvPr/>
        </p:nvSpPr>
        <p:spPr>
          <a:xfrm>
            <a:off x="2034540" y="2715768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34540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66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977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has sufficient predicted remaining life for the mission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233172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2331720"/>
            <a:ext cx="3429000" cy="109728"/>
          </a:xfrm>
          <a:prstGeom prst="roundRect">
            <a:avLst/>
          </a:prstGeom>
          <a:solidFill>
            <a:srgbClr val="D99B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9572" y="2715768"/>
            <a:ext cx="640080" cy="640080"/>
          </a:xfrm>
          <a:prstGeom prst="ellipse">
            <a:avLst/>
          </a:prstGeom>
          <a:solidFill>
            <a:srgbClr val="D99B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9572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325112" y="3566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AT_RISK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3977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may complete the mission but has limited remaining margin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0144" y="233172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2331720"/>
            <a:ext cx="3429000" cy="109728"/>
          </a:xfrm>
          <a:prstGeom prst="roundRect">
            <a:avLst/>
          </a:prstGeom>
          <a:solidFill>
            <a:srgbClr val="D65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9404604" y="2715768"/>
            <a:ext cx="640080" cy="640080"/>
          </a:xfrm>
          <a:prstGeom prst="ellipse">
            <a:avLst/>
          </a:prstGeom>
          <a:solidFill>
            <a:srgbClr val="D653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04604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010144" y="3566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NOT_READY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3977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is predicted to fail before or within the mission window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Maintenance Planning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ranks engines by operational risk and recommends the matching maintenance action — turning predictive analytics into an actionable workflow.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128016" cy="1051560"/>
          </a:xfrm>
          <a:prstGeom prst="roundRect">
            <a:avLst/>
          </a:prstGeom>
          <a:solidFill>
            <a:srgbClr val="D65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3317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Overhaul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33172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is at or near failure risk within the mission window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66160"/>
            <a:ext cx="128016" cy="1051560"/>
          </a:xfrm>
          <a:prstGeom prst="roundRect">
            <a:avLst/>
          </a:prstGeom>
          <a:solidFill>
            <a:srgbClr val="D99B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5661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Inspection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5661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risk of degradation — needs a closer look soon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800600"/>
            <a:ext cx="128016" cy="105156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8006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4800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Inspection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80060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normal margins, but worth a routine check-in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04 –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AI, delivered through IBM Bob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0604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attention-based explainability highlights which portions of an engine's sensor history most influenced its prediction. Every engine also gets a natural-language readiness summary, making outputs easy for maintenance personnel to interpret.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4160520"/>
            <a:ext cx="452628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2976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SUMMARY (SAMPLE)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61772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“Engine 42 shows accelerating degradation in the final 20 cycles of sensor history — predicted RUL 18 ± 4 cycles, below the mission threshold.”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6002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132A4C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+ MCP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6060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is connected directly to the live predictive-maintenance system via the Model Context Protocol (MCP). Engineers can ask fleet questions in plain language and get answers sourced from the live FastAPI backend — not simulated responses.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4892040" cy="502920"/>
          </a:xfrm>
          <a:prstGeom prst="roundRect">
            <a:avLst>
              <a:gd name="adj" fmla="val 50909"/>
            </a:avLst>
          </a:prstGeom>
          <a:solidFill>
            <a:srgbClr val="1B3E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114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engines are not ready for the next mission?”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736592"/>
            <a:ext cx="4892040" cy="502920"/>
          </a:xfrm>
          <a:prstGeom prst="roundRect">
            <a:avLst>
              <a:gd name="adj" fmla="val 50909"/>
            </a:avLst>
          </a:prstGeom>
          <a:solidFill>
            <a:srgbClr val="1B3E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7365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Engine 42 at risk?”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5358384"/>
            <a:ext cx="4892040" cy="502920"/>
          </a:xfrm>
          <a:prstGeom prst="roundRect">
            <a:avLst>
              <a:gd name="adj" fmla="val 50909"/>
            </a:avLst>
          </a:prstGeom>
          <a:solidFill>
            <a:srgbClr val="1B3E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5358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maintenance actions are currently recommended?”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6035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uses live model predictions, not hard-coded output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ln w="12700">
            <a:solidFill>
              <a:srgbClr val="1C3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-640080"/>
            <a:ext cx="3383280" cy="3383280"/>
          </a:xfrm>
          <a:prstGeom prst="ellipse">
            <a:avLst/>
          </a:prstGeom>
          <a:ln w="12700">
            <a:solidFill>
              <a:srgbClr val="2446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MOST PROUD OF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genuinely live IBM Bob integration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4630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3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not simulated or hard-coded. It talks to our real FastAPI backend through MCP and returns results generated by our live six-model ensemble and mission-readiness pipeline — with graceful failure handling when the backend is unavailable.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1325880"/>
            <a:ext cx="2331720" cy="685800"/>
          </a:xfrm>
          <a:prstGeom prst="roundRect">
            <a:avLst>
              <a:gd name="adj" fmla="val 9333"/>
            </a:avLst>
          </a:prstGeom>
          <a:solidFill>
            <a:srgbClr val="132A4C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6276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2514600"/>
            <a:ext cx="2331720" cy="685800"/>
          </a:xfrm>
          <a:prstGeom prst="roundRect">
            <a:avLst>
              <a:gd name="adj" fmla="val 9333"/>
            </a:avLst>
          </a:prstGeom>
          <a:solidFill>
            <a:srgbClr val="2477A6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2624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8163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REST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2011680" cy="685800"/>
          </a:xfrm>
          <a:prstGeom prst="roundRect">
            <a:avLst>
              <a:gd name="adj" fmla="val 9333"/>
            </a:avLst>
          </a:prstGeom>
          <a:solidFill>
            <a:srgbClr val="132A4C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3813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 Ensemble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005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0" y="3703320"/>
            <a:ext cx="2011680" cy="685800"/>
          </a:xfrm>
          <a:prstGeom prst="roundRect">
            <a:avLst>
              <a:gd name="adj" fmla="val 9333"/>
            </a:avLst>
          </a:prstGeom>
          <a:solidFill>
            <a:srgbClr val="132A4C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3813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Engine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4005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/ AT_RISK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4892040"/>
            <a:ext cx="2331720" cy="685800"/>
          </a:xfrm>
          <a:prstGeom prst="roundRect">
            <a:avLst>
              <a:gd name="adj" fmla="val 9333"/>
            </a:avLst>
          </a:prstGeom>
          <a:solidFill>
            <a:srgbClr val="2E9E5B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0" y="50017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Plan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51937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&amp; actionable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83980" y="2011680"/>
            <a:ext cx="0" cy="502920"/>
          </a:xfrm>
          <a:prstGeom prst="line">
            <a:avLst/>
          </a:prstGeom>
          <a:noFill/>
          <a:ln w="19050">
            <a:solidFill>
              <a:srgbClr val="3FA7D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18220" y="3200400"/>
            <a:ext cx="0" cy="502920"/>
          </a:xfrm>
          <a:prstGeom prst="line">
            <a:avLst/>
          </a:prstGeom>
          <a:noFill/>
          <a:ln w="19050">
            <a:solidFill>
              <a:srgbClr val="3FA7D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49740" y="3200400"/>
            <a:ext cx="800100" cy="502920"/>
          </a:xfrm>
          <a:prstGeom prst="line">
            <a:avLst/>
          </a:prstGeom>
          <a:noFill/>
          <a:ln w="19050">
            <a:solidFill>
              <a:srgbClr val="3FA7D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09560" y="4389120"/>
            <a:ext cx="891540" cy="502920"/>
          </a:xfrm>
          <a:prstGeom prst="line">
            <a:avLst/>
          </a:prstGeom>
          <a:noFill/>
          <a:ln w="19050">
            <a:solidFill>
              <a:srgbClr val="3FA7D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49840" y="4389120"/>
            <a:ext cx="0" cy="502920"/>
          </a:xfrm>
          <a:prstGeom prst="line">
            <a:avLst/>
          </a:prstGeom>
          <a:noFill/>
          <a:ln w="19050">
            <a:solidFill>
              <a:srgbClr val="3FA7D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0204704" y="2240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989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today — Bob can query the fleet but not yet trigger maintenance actions.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0527B-045A-060A-8653-4BF89CD0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32">
            <a:extLst>
              <a:ext uri="{FF2B5EF4-FFF2-40B4-BE49-F238E27FC236}">
                <a16:creationId xmlns:a16="http://schemas.microsoft.com/office/drawing/2014/main" id="{1D154FA0-7071-0DC1-4188-E0D2A276C544}"/>
              </a:ext>
            </a:extLst>
          </p:cNvPr>
          <p:cNvSpPr txBox="1"/>
          <p:nvPr/>
        </p:nvSpPr>
        <p:spPr>
          <a:xfrm>
            <a:off x="640080" y="5989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today — Bob can query the fleet but not yet trigger maintenance actions.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C9B230A-4247-BE68-0109-94BD2F16BC1D}"/>
              </a:ext>
            </a:extLst>
          </p:cNvPr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B838E60-968B-745F-5179-327814935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845" y="629580"/>
            <a:ext cx="4365266" cy="5542620"/>
          </a:xfrm>
          <a:prstGeom prst="rect">
            <a:avLst/>
          </a:prstGeom>
        </p:spPr>
      </p:pic>
      <p:sp>
        <p:nvSpPr>
          <p:cNvPr id="40" name="Text 1">
            <a:extLst>
              <a:ext uri="{FF2B5EF4-FFF2-40B4-BE49-F238E27FC236}">
                <a16:creationId xmlns:a16="http://schemas.microsoft.com/office/drawing/2014/main" id="{8994BF69-6B67-CC14-8E54-971DC90DABF8}"/>
              </a:ext>
            </a:extLst>
          </p:cNvPr>
          <p:cNvSpPr txBox="1"/>
          <p:nvPr/>
        </p:nvSpPr>
        <p:spPr>
          <a:xfrm>
            <a:off x="245225" y="992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3190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end-to-end,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132A4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3566160" cy="18288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58568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9164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132A4C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65960"/>
            <a:ext cx="3566160" cy="18288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258568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69164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132A4C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965960"/>
            <a:ext cx="3566160" cy="18288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258568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4048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132A4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114800"/>
            <a:ext cx="3566160" cy="18288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407408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Six-model ensemble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estimation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84048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132A4C"/>
          </a:solidFill>
          <a:ln/>
        </p:spPr>
      </p:sp>
      <p:sp>
        <p:nvSpPr>
          <p:cNvPr id="26" name="Shape 24"/>
          <p:cNvSpPr/>
          <p:nvPr/>
        </p:nvSpPr>
        <p:spPr>
          <a:xfrm>
            <a:off x="4343400" y="4114800"/>
            <a:ext cx="3566160" cy="18288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IBM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4407408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84048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132A4C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4114800"/>
            <a:ext cx="3566160" cy="18288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Data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407408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B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dataset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4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prototype draws the line today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91640"/>
            <a:ext cx="109728" cy="1965960"/>
          </a:xfrm>
          <a:prstGeom prst="roundRect">
            <a:avLst/>
          </a:prstGeom>
          <a:solidFill>
            <a:srgbClr val="D99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892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Engine-level, not component-level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13432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made at the whole-engine level rather than for individual components or subsystems.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1695796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695796"/>
            <a:ext cx="109728" cy="1965960"/>
          </a:xfrm>
          <a:prstGeom prst="roundRect">
            <a:avLst/>
          </a:prstGeom>
          <a:solidFill>
            <a:srgbClr val="D99B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18969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Template-based explanations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31758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explanations are deterministic and template-based today, prioritising reliability and consistency within the hackathon timeframe — not yet LLM-generated.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53691" y="3942727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53691" y="3942727"/>
            <a:ext cx="109728" cy="1965960"/>
          </a:xfrm>
          <a:prstGeom prst="roundRect">
            <a:avLst/>
          </a:prstGeom>
          <a:solidFill>
            <a:srgbClr val="D99B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73731" y="4143895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MCP integration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873731" y="4564519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can query live fleet information but cannot yet schedule maintenance, assign technicians, update records, or trigger an overhaul.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Mission Readiness Copilot goes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874520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134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failure prediction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874520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134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streaming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264408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contextual explanations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081528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264408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scheduling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081528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264408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maintenance workflows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71416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654296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93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Action-enabled MCP tools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4471416"/>
            <a:ext cx="3520440" cy="1188720"/>
          </a:xfrm>
          <a:prstGeom prst="roundRect">
            <a:avLst>
              <a:gd name="adj" fmla="val 5385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4654296"/>
            <a:ext cx="365760" cy="36576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2628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5093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real-world fleet systems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23038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retraining on new operational data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12700">
            <a:solidFill>
              <a:srgbClr val="1C3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ln w="12700">
            <a:solidFill>
              <a:srgbClr val="1C3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-640080"/>
            <a:ext cx="3383280" cy="3383280"/>
          </a:xfrm>
          <a:prstGeom prst="ellipse">
            <a:avLst/>
          </a:prstGeom>
          <a:ln w="12700">
            <a:solidFill>
              <a:srgbClr val="2446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— BOB AND BEYOND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the Copilot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2176272"/>
            <a:ext cx="731520" cy="73152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21762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Dhairyati Pandya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19202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176272"/>
            <a:ext cx="731520" cy="73152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06240" y="21762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Mitul Mistry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9202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2176272"/>
            <a:ext cx="731520" cy="73152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21762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 Bhagat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32520" y="19202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12640"/>
          </a:solidFill>
          <a:ln w="12700">
            <a:solidFill>
              <a:srgbClr val="2348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2176272"/>
            <a:ext cx="731520" cy="731520"/>
          </a:xfrm>
          <a:prstGeom prst="ellipse">
            <a:avLst/>
          </a:prstGeom>
          <a:solidFill>
            <a:srgbClr val="2477A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01200" y="21762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82396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Dhvani Ankola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2348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  ·  Team Bob and Beyond  ·  AI Track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data → prediction → readiness → maintenance action — with IBM Bob.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COPILOT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1046</Words>
  <Application>Microsoft Office PowerPoint</Application>
  <PresentationFormat>Widescreen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pandyadhairyati@outlook.com</cp:lastModifiedBy>
  <cp:revision>7</cp:revision>
  <dcterms:created xsi:type="dcterms:W3CDTF">2026-09-15T18:31:04Z</dcterms:created>
  <dcterms:modified xsi:type="dcterms:W3CDTF">2026-09-15T18:43:25Z</dcterms:modified>
</cp:coreProperties>
</file>